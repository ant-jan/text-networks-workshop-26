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8" r:id="rId5"/>
    <p:sldId id="267" r:id="rId6"/>
    <p:sldId id="270" r:id="rId7"/>
    <p:sldId id="273" r:id="rId8"/>
    <p:sldId id="274" r:id="rId9"/>
    <p:sldId id="272" r:id="rId10"/>
    <p:sldId id="275" r:id="rId11"/>
    <p:sldId id="286" r:id="rId12"/>
    <p:sldId id="280" r:id="rId13"/>
    <p:sldId id="283" r:id="rId14"/>
    <p:sldId id="285" r:id="rId15"/>
    <p:sldId id="284" r:id="rId16"/>
    <p:sldId id="265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8" autoAdjust="0"/>
    <p:restoredTop sz="91972"/>
  </p:normalViewPr>
  <p:slideViewPr>
    <p:cSldViewPr snapToGrid="0">
      <p:cViewPr varScale="1">
        <p:scale>
          <a:sx n="94" d="100"/>
          <a:sy n="94" d="100"/>
        </p:scale>
        <p:origin x="22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EECEB-2A82-7445-B0C8-317F10B8D82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90A85-6CC1-1740-BABE-40473E8E6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74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0A85-6CC1-1740-BABE-40473E8E6B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96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only social networks where relationships between people are examined. In psychology, researchers have examined how emotions </a:t>
            </a:r>
            <a:r>
              <a:rPr lang="en-US" dirty="0" err="1"/>
              <a:t>coocur</a:t>
            </a:r>
            <a:r>
              <a:rPr lang="en-US" dirty="0"/>
              <a:t> in </a:t>
            </a:r>
            <a:r>
              <a:rPr lang="en-US" dirty="0" err="1"/>
              <a:t>deth</a:t>
            </a:r>
            <a:r>
              <a:rPr lang="en-US" dirty="0"/>
              <a:t>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0A85-6CC1-1740-BABE-40473E8E6B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28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These both contain all the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information we need to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construct this network.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0A85-6CC1-1740-BABE-40473E8E6B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56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These both contain all the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information we need to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construct this network.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0A85-6CC1-1740-BABE-40473E8E6B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85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These both contain all the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information we need to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construct this network.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0A85-6CC1-1740-BABE-40473E8E6B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12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These both contain all the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information we need to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construct this network.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0A85-6CC1-1740-BABE-40473E8E6B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950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These both contain all the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information we need to</a:t>
            </a:r>
          </a:p>
          <a:p>
            <a:r>
              <a:rPr lang="en-GB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construct this network.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0A85-6CC1-1740-BABE-40473E8E6B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08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0A85-6CC1-1740-BABE-40473E8E6B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23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Transforming Text into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 Antkiewicz</a:t>
            </a:r>
          </a:p>
          <a:p>
            <a:r>
              <a:rPr lang="en-US" dirty="0" err="1">
                <a:solidFill>
                  <a:schemeClr val="accent4">
                    <a:lumMod val="50000"/>
                  </a:schemeClr>
                </a:solidFill>
              </a:rPr>
              <a:t>jan.antkiewicz@warwick.ac.uk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5" name="Picture 4" descr="A cover of a network science&#10;&#10;Description automatically generated">
            <a:extLst>
              <a:ext uri="{FF2B5EF4-FFF2-40B4-BE49-F238E27FC236}">
                <a16:creationId xmlns:a16="http://schemas.microsoft.com/office/drawing/2014/main" id="{8BECA485-A46C-1322-8BD1-052095012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3602038"/>
            <a:ext cx="1803400" cy="2730500"/>
          </a:xfrm>
          <a:prstGeom prst="rect">
            <a:avLst/>
          </a:prstGeom>
        </p:spPr>
      </p:pic>
      <p:pic>
        <p:nvPicPr>
          <p:cNvPr id="7" name="Picture 6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3EFB4317-3A02-E0A9-92C8-201BF5030F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150" y="4680760"/>
            <a:ext cx="17145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83B3-398B-EF3E-6FEA-D56E9B20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think in networks?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9D245-FF67-6871-283D-D874894BD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13341" cy="25343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Networks allow us to study </a:t>
            </a:r>
            <a:r>
              <a:rPr lang="en-US" sz="2400" b="1" dirty="0"/>
              <a:t>structure</a:t>
            </a:r>
            <a:r>
              <a:rPr lang="en-US" sz="2400" dirty="0"/>
              <a:t> of things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Why care about structure?</a:t>
            </a:r>
          </a:p>
          <a:p>
            <a:r>
              <a:rPr lang="en-US" sz="2400" dirty="0"/>
              <a:t>can help us predict what's important and why</a:t>
            </a:r>
          </a:p>
          <a:p>
            <a:r>
              <a:rPr lang="en-US" sz="2400" dirty="0"/>
              <a:t>how to make systems better</a:t>
            </a:r>
          </a:p>
          <a:p>
            <a:endParaRPr lang="en-US" sz="2400" dirty="0"/>
          </a:p>
          <a:p>
            <a:pPr marL="0" indent="0">
              <a:buNone/>
            </a:pPr>
            <a:endParaRPr lang="en-GB" sz="17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7" name="Picture 6" descr="A building in the snow&#10;&#10;Description automatically generated">
            <a:extLst>
              <a:ext uri="{FF2B5EF4-FFF2-40B4-BE49-F238E27FC236}">
                <a16:creationId xmlns:a16="http://schemas.microsoft.com/office/drawing/2014/main" id="{35E1D796-D469-8C84-B9E9-C6BB71304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445" y="365125"/>
            <a:ext cx="2844800" cy="1841500"/>
          </a:xfrm>
          <a:prstGeom prst="rect">
            <a:avLst/>
          </a:prstGeom>
        </p:spPr>
      </p:pic>
      <p:pic>
        <p:nvPicPr>
          <p:cNvPr id="9" name="Picture 8" descr="A diagram of a group&#10;&#10;Description automatically generated">
            <a:extLst>
              <a:ext uri="{FF2B5EF4-FFF2-40B4-BE49-F238E27FC236}">
                <a16:creationId xmlns:a16="http://schemas.microsoft.com/office/drawing/2014/main" id="{0D6C14D6-7CEF-E675-AEE6-9BCA980D5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650" y="2206625"/>
            <a:ext cx="3873500" cy="4445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F79119-A3E3-848D-1E0D-BBA13B9601F5}"/>
              </a:ext>
            </a:extLst>
          </p:cNvPr>
          <p:cNvSpPr txBox="1"/>
          <p:nvPr/>
        </p:nvSpPr>
        <p:spPr>
          <a:xfrm>
            <a:off x="838200" y="4724137"/>
            <a:ext cx="7156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Johnson et al. (2003): What holds communities together?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Expressive leaders who coordinated social interactions to help keep the communities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Positive deviant (i.e., the clown) that violated social boundaries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90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8CA5-503F-F8F1-D91A-EC18714F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2F1C7-5C51-291F-C1E5-27BC8DE0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Natural data that describes not only things but also relationships between them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D45EE-4E01-6BB3-636D-5F32E1C8E7EF}"/>
              </a:ext>
            </a:extLst>
          </p:cNvPr>
          <p:cNvSpPr txBox="1"/>
          <p:nvPr/>
        </p:nvSpPr>
        <p:spPr>
          <a:xfrm>
            <a:off x="10816046" y="6492875"/>
            <a:ext cx="137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2025) </a:t>
            </a:r>
            <a:endParaRPr lang="en-US" dirty="0"/>
          </a:p>
        </p:txBody>
      </p:sp>
      <p:pic>
        <p:nvPicPr>
          <p:cNvPr id="14" name="Picture 13" descr="A network of names and a group of people&#10;&#10;Description automatically generated with medium confidence">
            <a:extLst>
              <a:ext uri="{FF2B5EF4-FFF2-40B4-BE49-F238E27FC236}">
                <a16:creationId xmlns:a16="http://schemas.microsoft.com/office/drawing/2014/main" id="{2A32D338-F33C-7CD7-F1C0-9057C8168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691" y="2317247"/>
            <a:ext cx="4833884" cy="436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3E06-6D66-C31C-CFB1-79132B80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network ingredients</a:t>
            </a:r>
          </a:p>
        </p:txBody>
      </p:sp>
      <p:pic>
        <p:nvPicPr>
          <p:cNvPr id="5" name="Content Placeholder 4" descr="A diagram of a triangle with numbers and lines&#10;&#10;Description automatically generated">
            <a:extLst>
              <a:ext uri="{FF2B5EF4-FFF2-40B4-BE49-F238E27FC236}">
                <a16:creationId xmlns:a16="http://schemas.microsoft.com/office/drawing/2014/main" id="{D7E32880-EC24-4FF7-6C45-3185545F5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7"/>
          <a:stretch/>
        </p:blipFill>
        <p:spPr>
          <a:xfrm>
            <a:off x="7198146" y="1690688"/>
            <a:ext cx="4828540" cy="506779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919EC7-744B-EB14-7F2A-D28C8A4B346E}"/>
              </a:ext>
            </a:extLst>
          </p:cNvPr>
          <p:cNvSpPr txBox="1"/>
          <p:nvPr/>
        </p:nvSpPr>
        <p:spPr>
          <a:xfrm>
            <a:off x="838201" y="2455661"/>
            <a:ext cx="5321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Nodes:  </a:t>
            </a:r>
            <a:r>
              <a:rPr lang="en-US" sz="2400" dirty="0"/>
              <a:t>People, words, emotions, concepts, …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D93DB-BCCB-D81C-1FF5-192B9F309EE6}"/>
              </a:ext>
            </a:extLst>
          </p:cNvPr>
          <p:cNvSpPr txBox="1"/>
          <p:nvPr/>
        </p:nvSpPr>
        <p:spPr>
          <a:xfrm>
            <a:off x="838200" y="3962185"/>
            <a:ext cx="51940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Edges: </a:t>
            </a:r>
            <a:r>
              <a:rPr lang="en-US" sz="2400" dirty="0"/>
              <a:t> friendships, semantic relationships, cooccurrence, causal relationships, …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454B5-EBC4-A5AE-3132-684040168030}"/>
              </a:ext>
            </a:extLst>
          </p:cNvPr>
          <p:cNvSpPr txBox="1"/>
          <p:nvPr/>
        </p:nvSpPr>
        <p:spPr>
          <a:xfrm>
            <a:off x="9000309" y="6492875"/>
            <a:ext cx="3191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2025; Siew et al., 2019)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67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3E06-6D66-C31C-CFB1-79132B80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a network</a:t>
            </a:r>
          </a:p>
        </p:txBody>
      </p:sp>
      <p:pic>
        <p:nvPicPr>
          <p:cNvPr id="5" name="Content Placeholder 4" descr="A diagram of a triangle with numbers and lines&#10;&#10;Description automatically generated">
            <a:extLst>
              <a:ext uri="{FF2B5EF4-FFF2-40B4-BE49-F238E27FC236}">
                <a16:creationId xmlns:a16="http://schemas.microsoft.com/office/drawing/2014/main" id="{D7E32880-EC24-4FF7-6C45-3185545F5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7"/>
          <a:stretch/>
        </p:blipFill>
        <p:spPr>
          <a:xfrm>
            <a:off x="7198146" y="1690688"/>
            <a:ext cx="4828540" cy="506779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C18301-A87C-472D-B63A-D803484DB941}"/>
              </a:ext>
            </a:extLst>
          </p:cNvPr>
          <p:cNvSpPr txBox="1"/>
          <p:nvPr/>
        </p:nvSpPr>
        <p:spPr>
          <a:xfrm>
            <a:off x="838199" y="1944477"/>
            <a:ext cx="1626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Edge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DE02A-352D-B245-D4EF-907A22E1E11E}"/>
              </a:ext>
            </a:extLst>
          </p:cNvPr>
          <p:cNvSpPr txBox="1"/>
          <p:nvPr/>
        </p:nvSpPr>
        <p:spPr>
          <a:xfrm>
            <a:off x="3596898" y="1939357"/>
            <a:ext cx="274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Adjacency matrix</a:t>
            </a:r>
          </a:p>
        </p:txBody>
      </p:sp>
      <p:pic>
        <p:nvPicPr>
          <p:cNvPr id="3" name="Content Placeholder 4" descr="A number grid with numbers&#10;&#10;Description automatically generated">
            <a:extLst>
              <a:ext uri="{FF2B5EF4-FFF2-40B4-BE49-F238E27FC236}">
                <a16:creationId xmlns:a16="http://schemas.microsoft.com/office/drawing/2014/main" id="{60EEE26A-0BB0-25C8-D166-9D7F8547B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955" y="3148879"/>
            <a:ext cx="3479800" cy="2616200"/>
          </a:xfrm>
          <a:prstGeom prst="rect">
            <a:avLst/>
          </a:prstGeom>
        </p:spPr>
      </p:pic>
      <p:pic>
        <p:nvPicPr>
          <p:cNvPr id="8" name="Picture 7" descr="A number in a row&#10;&#10;Description automatically generated with medium confidence">
            <a:extLst>
              <a:ext uri="{FF2B5EF4-FFF2-40B4-BE49-F238E27FC236}">
                <a16:creationId xmlns:a16="http://schemas.microsoft.com/office/drawing/2014/main" id="{316548E8-25FF-EC3B-ED34-8972D21BF3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40" y="2916132"/>
            <a:ext cx="1947913" cy="316352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1317492-85AE-339F-5AE5-A187252AB81C}"/>
              </a:ext>
            </a:extLst>
          </p:cNvPr>
          <p:cNvSpPr/>
          <p:nvPr/>
        </p:nvSpPr>
        <p:spPr>
          <a:xfrm>
            <a:off x="838199" y="3373649"/>
            <a:ext cx="1547809" cy="38054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AE7E3E-AB3B-785D-29D2-F1CDFD55983A}"/>
              </a:ext>
            </a:extLst>
          </p:cNvPr>
          <p:cNvSpPr/>
          <p:nvPr/>
        </p:nvSpPr>
        <p:spPr>
          <a:xfrm rot="409638">
            <a:off x="8268183" y="4811019"/>
            <a:ext cx="1348007" cy="38054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1B52A97-58C0-CA06-9522-9F204B972174}"/>
              </a:ext>
            </a:extLst>
          </p:cNvPr>
          <p:cNvSpPr/>
          <p:nvPr/>
        </p:nvSpPr>
        <p:spPr>
          <a:xfrm>
            <a:off x="5091811" y="3700233"/>
            <a:ext cx="530942" cy="38054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0738EB-B340-2F49-B7A6-C981AAB8285B}"/>
              </a:ext>
            </a:extLst>
          </p:cNvPr>
          <p:cNvSpPr txBox="1"/>
          <p:nvPr/>
        </p:nvSpPr>
        <p:spPr>
          <a:xfrm>
            <a:off x="10816046" y="6492875"/>
            <a:ext cx="137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04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 animBg="1"/>
      <p:bldP spid="11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3E06-6D66-C31C-CFB1-79132B80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networks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E32880-EC24-4FF7-6C45-3185545F5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1" r="4671"/>
          <a:stretch/>
        </p:blipFill>
        <p:spPr>
          <a:xfrm>
            <a:off x="7198146" y="1690688"/>
            <a:ext cx="4575470" cy="48021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C18301-A87C-472D-B63A-D803484DB941}"/>
              </a:ext>
            </a:extLst>
          </p:cNvPr>
          <p:cNvSpPr txBox="1"/>
          <p:nvPr/>
        </p:nvSpPr>
        <p:spPr>
          <a:xfrm>
            <a:off x="838199" y="1944477"/>
            <a:ext cx="1626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Edge 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DE02A-352D-B245-D4EF-907A22E1E11E}"/>
              </a:ext>
            </a:extLst>
          </p:cNvPr>
          <p:cNvSpPr txBox="1"/>
          <p:nvPr/>
        </p:nvSpPr>
        <p:spPr>
          <a:xfrm>
            <a:off x="3596898" y="1939357"/>
            <a:ext cx="274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Adjacency matrix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60EEE26A-0BB0-25C8-D166-9D7F8547B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54590" y="3148879"/>
            <a:ext cx="3278529" cy="2616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6548E8-25FF-EC3B-ED34-8972D21BF3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2140" y="3218737"/>
            <a:ext cx="1947913" cy="2558318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1317492-85AE-339F-5AE5-A187252AB81C}"/>
              </a:ext>
            </a:extLst>
          </p:cNvPr>
          <p:cNvSpPr/>
          <p:nvPr/>
        </p:nvSpPr>
        <p:spPr>
          <a:xfrm>
            <a:off x="779992" y="3626197"/>
            <a:ext cx="1850061" cy="38054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AE7E3E-AB3B-785D-29D2-F1CDFD55983A}"/>
              </a:ext>
            </a:extLst>
          </p:cNvPr>
          <p:cNvSpPr/>
          <p:nvPr/>
        </p:nvSpPr>
        <p:spPr>
          <a:xfrm rot="409638">
            <a:off x="7898247" y="4763668"/>
            <a:ext cx="1570583" cy="38054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1B52A97-58C0-CA06-9522-9F204B972174}"/>
              </a:ext>
            </a:extLst>
          </p:cNvPr>
          <p:cNvSpPr/>
          <p:nvPr/>
        </p:nvSpPr>
        <p:spPr>
          <a:xfrm>
            <a:off x="5144062" y="3711238"/>
            <a:ext cx="530942" cy="38054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D3867F-3792-F9E2-B92D-B440C6A3DC36}"/>
              </a:ext>
            </a:extLst>
          </p:cNvPr>
          <p:cNvSpPr txBox="1"/>
          <p:nvPr/>
        </p:nvSpPr>
        <p:spPr>
          <a:xfrm>
            <a:off x="10816046" y="6492875"/>
            <a:ext cx="137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22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3E06-6D66-C31C-CFB1-79132B80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Two-mode networks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E32880-EC24-4FF7-6C45-3185545F5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3" r="5713"/>
          <a:stretch/>
        </p:blipFill>
        <p:spPr>
          <a:xfrm>
            <a:off x="6983895" y="2499959"/>
            <a:ext cx="3631975" cy="3811941"/>
          </a:xfrm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60EEE26A-0BB0-25C8-D166-9D7F8547B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7812" y="3466931"/>
            <a:ext cx="2452084" cy="261620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FDF364-BDA0-404C-367F-8EA577DF19EC}"/>
              </a:ext>
            </a:extLst>
          </p:cNvPr>
          <p:cNvSpPr txBox="1">
            <a:spLocks/>
          </p:cNvSpPr>
          <p:nvPr/>
        </p:nvSpPr>
        <p:spPr>
          <a:xfrm>
            <a:off x="838200" y="1717220"/>
            <a:ext cx="10515600" cy="861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000000"/>
                </a:solidFill>
                <a:latin typeface="Helvetica Neue" panose="02000503000000020004" pitchFamily="2" charset="0"/>
              </a:rPr>
              <a:t>have two kinds of nodes and nodes are only connected to nodes of other types.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900DE-01AC-4E9E-7C69-1A780F0BBF7C}"/>
              </a:ext>
            </a:extLst>
          </p:cNvPr>
          <p:cNvSpPr txBox="1"/>
          <p:nvPr/>
        </p:nvSpPr>
        <p:spPr>
          <a:xfrm>
            <a:off x="3767812" y="2967335"/>
            <a:ext cx="2741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Adjacency 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53D72-FA26-A072-986F-31E9229D1C74}"/>
              </a:ext>
            </a:extLst>
          </p:cNvPr>
          <p:cNvSpPr txBox="1"/>
          <p:nvPr/>
        </p:nvSpPr>
        <p:spPr>
          <a:xfrm>
            <a:off x="10816046" y="6492875"/>
            <a:ext cx="137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95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A3E06-6D66-C31C-CFB1-79132B80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One-mode networks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E32880-EC24-4FF7-6C45-3185545F5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2" r="3262"/>
          <a:stretch/>
        </p:blipFill>
        <p:spPr>
          <a:xfrm>
            <a:off x="8322365" y="2907137"/>
            <a:ext cx="2903105" cy="3046955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FDF364-BDA0-404C-367F-8EA577DF19EC}"/>
              </a:ext>
            </a:extLst>
          </p:cNvPr>
          <p:cNvSpPr txBox="1">
            <a:spLocks/>
          </p:cNvSpPr>
          <p:nvPr/>
        </p:nvSpPr>
        <p:spPr>
          <a:xfrm>
            <a:off x="838200" y="1717220"/>
            <a:ext cx="10515600" cy="861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>
                <a:solidFill>
                  <a:srgbClr val="000000"/>
                </a:solidFill>
                <a:latin typeface="Helvetica Neue" panose="02000503000000020004" pitchFamily="2" charset="0"/>
              </a:rPr>
              <a:t>We can project a two-mode networks into separate one mode-networks</a:t>
            </a:r>
            <a:endParaRPr lang="en-US" dirty="0"/>
          </a:p>
        </p:txBody>
      </p:sp>
      <p:pic>
        <p:nvPicPr>
          <p:cNvPr id="7" name="Picture 6" descr="A network with numbers and circles&#10;&#10;Description automatically generated with medium confidence">
            <a:extLst>
              <a:ext uri="{FF2B5EF4-FFF2-40B4-BE49-F238E27FC236}">
                <a16:creationId xmlns:a16="http://schemas.microsoft.com/office/drawing/2014/main" id="{B873D3B5-8144-7125-5038-213D1CF1F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403" y="2966672"/>
            <a:ext cx="2993185" cy="3046955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3723129-1AE7-1A54-AAB2-50FE1D0281F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3" r="5713"/>
          <a:stretch/>
        </p:blipFill>
        <p:spPr>
          <a:xfrm>
            <a:off x="838200" y="2907137"/>
            <a:ext cx="3210214" cy="33692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6BB2F4-FE0C-BC00-04D0-7E962A225D72}"/>
              </a:ext>
            </a:extLst>
          </p:cNvPr>
          <p:cNvSpPr txBox="1"/>
          <p:nvPr/>
        </p:nvSpPr>
        <p:spPr>
          <a:xfrm>
            <a:off x="5596612" y="2676304"/>
            <a:ext cx="1519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numbers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F1C815-BA4D-EACE-994A-A65AF91FACE3}"/>
              </a:ext>
            </a:extLst>
          </p:cNvPr>
          <p:cNvSpPr txBox="1"/>
          <p:nvPr/>
        </p:nvSpPr>
        <p:spPr>
          <a:xfrm>
            <a:off x="8931883" y="2676304"/>
            <a:ext cx="1519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letters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B9181C-0492-1EB4-2979-8BE7DA1B22FE}"/>
              </a:ext>
            </a:extLst>
          </p:cNvPr>
          <p:cNvCxnSpPr/>
          <p:nvPr/>
        </p:nvCxnSpPr>
        <p:spPr>
          <a:xfrm>
            <a:off x="4161183" y="4591778"/>
            <a:ext cx="98922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B68E0E7-161B-63AF-61FA-38910AA01E8E}"/>
              </a:ext>
            </a:extLst>
          </p:cNvPr>
          <p:cNvSpPr/>
          <p:nvPr/>
        </p:nvSpPr>
        <p:spPr>
          <a:xfrm rot="1390243">
            <a:off x="818655" y="5290964"/>
            <a:ext cx="1570583" cy="59680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83A926-C91E-8497-F1B0-F8B680D77435}"/>
              </a:ext>
            </a:extLst>
          </p:cNvPr>
          <p:cNvSpPr/>
          <p:nvPr/>
        </p:nvSpPr>
        <p:spPr>
          <a:xfrm rot="6158849">
            <a:off x="5649113" y="3519543"/>
            <a:ext cx="1226735" cy="51287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F3FD3A4-91CF-CBFF-46C9-4531ADB95BD3}"/>
              </a:ext>
            </a:extLst>
          </p:cNvPr>
          <p:cNvSpPr/>
          <p:nvPr/>
        </p:nvSpPr>
        <p:spPr>
          <a:xfrm rot="6158849">
            <a:off x="1228197" y="3659433"/>
            <a:ext cx="1226735" cy="958138"/>
          </a:xfrm>
          <a:prstGeom prst="ellipse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7D5F3D-F38C-093E-389A-AB018BD63C11}"/>
              </a:ext>
            </a:extLst>
          </p:cNvPr>
          <p:cNvSpPr/>
          <p:nvPr/>
        </p:nvSpPr>
        <p:spPr>
          <a:xfrm rot="9917905">
            <a:off x="8352394" y="3177431"/>
            <a:ext cx="3109202" cy="682212"/>
          </a:xfrm>
          <a:prstGeom prst="ellipse">
            <a:avLst/>
          </a:prstGeom>
          <a:noFill/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45D77-3740-5C1C-C6F0-29BC29D01D15}"/>
              </a:ext>
            </a:extLst>
          </p:cNvPr>
          <p:cNvSpPr txBox="1"/>
          <p:nvPr/>
        </p:nvSpPr>
        <p:spPr>
          <a:xfrm>
            <a:off x="10816046" y="6492875"/>
            <a:ext cx="137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07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55E0-F7C5-A363-5D38-507679E6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9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Analyzing networks</a:t>
            </a:r>
          </a:p>
        </p:txBody>
      </p:sp>
    </p:spTree>
    <p:extLst>
      <p:ext uri="{BB962C8B-B14F-4D97-AF65-F5344CB8AC3E}">
        <p14:creationId xmlns:p14="http://schemas.microsoft.com/office/powerpoint/2010/main" val="3198475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7DEC-56F7-8EAA-41B0-B04C651CB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Density  </a:t>
            </a:r>
            <a:r>
              <a:rPr lang="en-GB" sz="2500" dirty="0"/>
              <a:t>= </a:t>
            </a:r>
            <a:r>
              <a:rPr lang="en-GB" sz="2400" dirty="0"/>
              <a:t>it is the proportion of possible edges that are actually present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AE318-2ABD-F117-C2DD-7D1B7B490E98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DC7B443B-92EA-33F8-3D9C-475383F20E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371600" y="1181100"/>
            <a:ext cx="94488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diagram of a triangle with dots and lines&#10;&#10;Description automatically generated">
            <a:extLst>
              <a:ext uri="{FF2B5EF4-FFF2-40B4-BE49-F238E27FC236}">
                <a16:creationId xmlns:a16="http://schemas.microsoft.com/office/drawing/2014/main" id="{9844DDEA-E8D4-C7B1-341C-E1D3D0106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088919"/>
            <a:ext cx="7772400" cy="40063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9AD36F-13D8-3BC3-9A12-9EE54E19DE25}"/>
              </a:ext>
            </a:extLst>
          </p:cNvPr>
          <p:cNvSpPr txBox="1"/>
          <p:nvPr/>
        </p:nvSpPr>
        <p:spPr>
          <a:xfrm>
            <a:off x="10816046" y="6492875"/>
            <a:ext cx="137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659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A19C-0D55-9C18-36BE-7EB8767A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Terrorist cells are characterized by low density</a:t>
            </a:r>
          </a:p>
        </p:txBody>
      </p:sp>
      <p:pic>
        <p:nvPicPr>
          <p:cNvPr id="5" name="Picture 4" descr="A map of the middle east&#10;&#10;Description automatically generated">
            <a:extLst>
              <a:ext uri="{FF2B5EF4-FFF2-40B4-BE49-F238E27FC236}">
                <a16:creationId xmlns:a16="http://schemas.microsoft.com/office/drawing/2014/main" id="{490B36D9-1E7B-DFBA-F9A5-4D48AD087B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0"/>
          <a:stretch/>
        </p:blipFill>
        <p:spPr>
          <a:xfrm>
            <a:off x="3492408" y="1554763"/>
            <a:ext cx="4213202" cy="47471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9B5ACA-0140-95E8-FD74-09E4D78956A2}"/>
              </a:ext>
            </a:extLst>
          </p:cNvPr>
          <p:cNvSpPr txBox="1"/>
          <p:nvPr/>
        </p:nvSpPr>
        <p:spPr>
          <a:xfrm>
            <a:off x="10565027" y="6492875"/>
            <a:ext cx="1626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(Krebs, 2002)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48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4194-45F0-E1EC-A511-3FB3EE9D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Average Shortest Path Length </a:t>
            </a:r>
            <a:r>
              <a:rPr lang="en-US" sz="2400" dirty="0"/>
              <a:t>= </a:t>
            </a:r>
            <a:r>
              <a:rPr lang="en-GB" sz="2400" dirty="0"/>
              <a:t>average of shortest path between given node and any other node in the network</a:t>
            </a:r>
            <a:endParaRPr lang="en-US" sz="2400" dirty="0"/>
          </a:p>
        </p:txBody>
      </p:sp>
      <p:pic>
        <p:nvPicPr>
          <p:cNvPr id="17" name="Picture 16" descr="A diagram of a network&#10;&#10;Description automatically generated">
            <a:extLst>
              <a:ext uri="{FF2B5EF4-FFF2-40B4-BE49-F238E27FC236}">
                <a16:creationId xmlns:a16="http://schemas.microsoft.com/office/drawing/2014/main" id="{3FCC9B22-66D7-54AC-5DC5-73395A8CE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661" y="2106142"/>
            <a:ext cx="4394200" cy="46736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D6FE9AB-C490-2505-D343-382259777E4B}"/>
              </a:ext>
            </a:extLst>
          </p:cNvPr>
          <p:cNvSpPr/>
          <p:nvPr/>
        </p:nvSpPr>
        <p:spPr>
          <a:xfrm rot="6158849">
            <a:off x="6625717" y="5625205"/>
            <a:ext cx="619059" cy="63375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DE8B6F-99D3-7EFD-473A-19C81C3BBCF5}"/>
              </a:ext>
            </a:extLst>
          </p:cNvPr>
          <p:cNvCxnSpPr>
            <a:cxnSpLocks/>
            <a:stCxn id="19" idx="3"/>
          </p:cNvCxnSpPr>
          <p:nvPr/>
        </p:nvCxnSpPr>
        <p:spPr>
          <a:xfrm flipH="1" flipV="1">
            <a:off x="5873632" y="4580255"/>
            <a:ext cx="890906" cy="1099208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7D4D81B-FB50-1A22-E299-59BB6D7E457A}"/>
              </a:ext>
            </a:extLst>
          </p:cNvPr>
          <p:cNvCxnSpPr>
            <a:cxnSpLocks/>
          </p:cNvCxnSpPr>
          <p:nvPr/>
        </p:nvCxnSpPr>
        <p:spPr>
          <a:xfrm flipV="1">
            <a:off x="5970051" y="3248307"/>
            <a:ext cx="1111469" cy="91075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438729A-258F-B6A6-53F4-38B95C6D13B0}"/>
              </a:ext>
            </a:extLst>
          </p:cNvPr>
          <p:cNvSpPr/>
          <p:nvPr/>
        </p:nvSpPr>
        <p:spPr>
          <a:xfrm rot="6158849">
            <a:off x="7002678" y="2778733"/>
            <a:ext cx="619059" cy="63375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A3CCD5-78A4-B836-F3D2-FDE56C6BBD45}"/>
              </a:ext>
            </a:extLst>
          </p:cNvPr>
          <p:cNvSpPr txBox="1"/>
          <p:nvPr/>
        </p:nvSpPr>
        <p:spPr>
          <a:xfrm>
            <a:off x="4261631" y="2601099"/>
            <a:ext cx="398151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6E48F8-11A8-1A83-7F91-6DF25A4F38F4}"/>
              </a:ext>
            </a:extLst>
          </p:cNvPr>
          <p:cNvSpPr txBox="1"/>
          <p:nvPr/>
        </p:nvSpPr>
        <p:spPr>
          <a:xfrm>
            <a:off x="5518512" y="4196721"/>
            <a:ext cx="398151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B3536B-2EB5-B3B2-A67B-1CDECC6D8269}"/>
              </a:ext>
            </a:extLst>
          </p:cNvPr>
          <p:cNvSpPr txBox="1"/>
          <p:nvPr/>
        </p:nvSpPr>
        <p:spPr>
          <a:xfrm>
            <a:off x="3899351" y="5447571"/>
            <a:ext cx="398151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ECB177-8CAD-1C3E-8A9C-9BDB1AC2A99D}"/>
              </a:ext>
            </a:extLst>
          </p:cNvPr>
          <p:cNvSpPr txBox="1"/>
          <p:nvPr/>
        </p:nvSpPr>
        <p:spPr>
          <a:xfrm>
            <a:off x="6736170" y="5789481"/>
            <a:ext cx="398151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1.75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8A2E16-3B19-9478-CC68-877533133A52}"/>
              </a:ext>
            </a:extLst>
          </p:cNvPr>
          <p:cNvSpPr txBox="1"/>
          <p:nvPr/>
        </p:nvSpPr>
        <p:spPr>
          <a:xfrm>
            <a:off x="7113131" y="2966436"/>
            <a:ext cx="398151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1.75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B0467D-D4A8-9DEE-989B-D02D9C8B8C72}"/>
              </a:ext>
            </a:extLst>
          </p:cNvPr>
          <p:cNvSpPr txBox="1"/>
          <p:nvPr/>
        </p:nvSpPr>
        <p:spPr>
          <a:xfrm>
            <a:off x="10816046" y="6492875"/>
            <a:ext cx="137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584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B63A-CCD9-B09F-B8D6-451EA93EA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individuals have shorter average shortest path lengths</a:t>
            </a:r>
          </a:p>
        </p:txBody>
      </p:sp>
      <p:pic>
        <p:nvPicPr>
          <p:cNvPr id="9" name="Content Placeholder 8" descr="A close-up of a wire-frame structure&#10;&#10;Description automatically generated">
            <a:extLst>
              <a:ext uri="{FF2B5EF4-FFF2-40B4-BE49-F238E27FC236}">
                <a16:creationId xmlns:a16="http://schemas.microsoft.com/office/drawing/2014/main" id="{888B3197-CB08-2419-2345-17367080A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7"/>
          <a:stretch/>
        </p:blipFill>
        <p:spPr>
          <a:xfrm>
            <a:off x="1106904" y="1864011"/>
            <a:ext cx="9970168" cy="4274566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68E831-1AB4-397D-81AA-3A1A9B2FE0D2}"/>
              </a:ext>
            </a:extLst>
          </p:cNvPr>
          <p:cNvSpPr txBox="1"/>
          <p:nvPr/>
        </p:nvSpPr>
        <p:spPr>
          <a:xfrm>
            <a:off x="9613232" y="6492875"/>
            <a:ext cx="2578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</a:rPr>
              <a:t>Kennet &amp; Faust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, 2019)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8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4194-45F0-E1EC-A511-3FB3EE9D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Betweenness centrality </a:t>
            </a:r>
            <a:r>
              <a:rPr lang="en-GB" sz="2700" dirty="0"/>
              <a:t>= number of shortest paths between all other pairs of nodes that pass through a given node</a:t>
            </a:r>
            <a:endParaRPr lang="en-US" sz="2700" dirty="0"/>
          </a:p>
        </p:txBody>
      </p:sp>
      <p:pic>
        <p:nvPicPr>
          <p:cNvPr id="17" name="Picture 16" descr="A diagram of a network&#10;&#10;Description automatically generated">
            <a:extLst>
              <a:ext uri="{FF2B5EF4-FFF2-40B4-BE49-F238E27FC236}">
                <a16:creationId xmlns:a16="http://schemas.microsoft.com/office/drawing/2014/main" id="{3FCC9B22-66D7-54AC-5DC5-73395A8CE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661" y="2106142"/>
            <a:ext cx="4394200" cy="4673600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D6FE9AB-C490-2505-D343-382259777E4B}"/>
              </a:ext>
            </a:extLst>
          </p:cNvPr>
          <p:cNvSpPr/>
          <p:nvPr/>
        </p:nvSpPr>
        <p:spPr>
          <a:xfrm rot="6158849">
            <a:off x="6625717" y="5625205"/>
            <a:ext cx="619059" cy="63375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ADE8B6F-99D3-7EFD-473A-19C81C3BBCF5}"/>
              </a:ext>
            </a:extLst>
          </p:cNvPr>
          <p:cNvCxnSpPr>
            <a:cxnSpLocks/>
            <a:stCxn id="19" idx="3"/>
          </p:cNvCxnSpPr>
          <p:nvPr/>
        </p:nvCxnSpPr>
        <p:spPr>
          <a:xfrm flipH="1" flipV="1">
            <a:off x="5873632" y="4580255"/>
            <a:ext cx="890906" cy="1099208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7D4D81B-FB50-1A22-E299-59BB6D7E457A}"/>
              </a:ext>
            </a:extLst>
          </p:cNvPr>
          <p:cNvCxnSpPr>
            <a:cxnSpLocks/>
          </p:cNvCxnSpPr>
          <p:nvPr/>
        </p:nvCxnSpPr>
        <p:spPr>
          <a:xfrm flipV="1">
            <a:off x="5970051" y="3248307"/>
            <a:ext cx="1111469" cy="910753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438729A-258F-B6A6-53F4-38B95C6D13B0}"/>
              </a:ext>
            </a:extLst>
          </p:cNvPr>
          <p:cNvSpPr/>
          <p:nvPr/>
        </p:nvSpPr>
        <p:spPr>
          <a:xfrm rot="6158849">
            <a:off x="7002678" y="2778733"/>
            <a:ext cx="619059" cy="63375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B0467D-D4A8-9DEE-989B-D02D9C8B8C72}"/>
              </a:ext>
            </a:extLst>
          </p:cNvPr>
          <p:cNvSpPr txBox="1"/>
          <p:nvPr/>
        </p:nvSpPr>
        <p:spPr>
          <a:xfrm>
            <a:off x="10816046" y="6492875"/>
            <a:ext cx="1375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  <a:effectLst/>
                <a:latin typeface="Helvetica Neue" panose="02000503000000020004" pitchFamily="2" charset="0"/>
              </a:rPr>
              <a:t>(Hills, 2025)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41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5" grpId="0" animBg="1"/>
      <p:bldP spid="25" grpId="1" animBg="1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1AF7-1972-1FFD-2822-8BA5AF3E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important for keeping communities together have high betweenness centrality </a:t>
            </a:r>
          </a:p>
        </p:txBody>
      </p:sp>
      <p:pic>
        <p:nvPicPr>
          <p:cNvPr id="4" name="Picture 3" descr="A diagram of a group&#10;&#10;Description automatically generated">
            <a:extLst>
              <a:ext uri="{FF2B5EF4-FFF2-40B4-BE49-F238E27FC236}">
                <a16:creationId xmlns:a16="http://schemas.microsoft.com/office/drawing/2014/main" id="{58E3F924-C005-6FFA-9BF8-21EC25439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070" y="1941931"/>
            <a:ext cx="3873500" cy="444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10B31-E164-F070-4ECD-2E9774FFE1CC}"/>
              </a:ext>
            </a:extLst>
          </p:cNvPr>
          <p:cNvSpPr txBox="1"/>
          <p:nvPr/>
        </p:nvSpPr>
        <p:spPr>
          <a:xfrm>
            <a:off x="9829800" y="6492875"/>
            <a:ext cx="236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Helvetica Neue" panose="02000503000000020004" pitchFamily="2" charset="0"/>
              </a:rPr>
              <a:t>(Johnson et al.,2003)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2B8EF7-1F58-0126-0F5E-FEBBD464BBFC}"/>
              </a:ext>
            </a:extLst>
          </p:cNvPr>
          <p:cNvSpPr/>
          <p:nvPr/>
        </p:nvSpPr>
        <p:spPr>
          <a:xfrm rot="636867">
            <a:off x="5366063" y="3861224"/>
            <a:ext cx="1866655" cy="96689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3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E10E-AB74-EC9C-654C-E7BB62FD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Todays worked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617020-205F-1852-F982-3DED3FC1D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749" y="1695070"/>
            <a:ext cx="3077100" cy="461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 descr="A network of animals with blue and yellow dots&#10;&#10;Description automatically generated">
            <a:extLst>
              <a:ext uri="{FF2B5EF4-FFF2-40B4-BE49-F238E27FC236}">
                <a16:creationId xmlns:a16="http://schemas.microsoft.com/office/drawing/2014/main" id="{A52463CC-69E8-4C57-12BA-9E91B357B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677" y="1825624"/>
            <a:ext cx="4609295" cy="4351338"/>
          </a:xfrm>
        </p:spPr>
      </p:pic>
    </p:spTree>
    <p:extLst>
      <p:ext uri="{BB962C8B-B14F-4D97-AF65-F5344CB8AC3E}">
        <p14:creationId xmlns:p14="http://schemas.microsoft.com/office/powerpoint/2010/main" val="778374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1368-2FDC-62F7-C496-E5DCD0FF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4863-AABA-865A-6202-1A64E21FA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Hills, T. T. (2025). </a:t>
            </a:r>
            <a:r>
              <a:rPr lang="en-GB" dirty="0" err="1"/>
              <a:t>Behavioral</a:t>
            </a:r>
            <a:r>
              <a:rPr lang="en-GB" dirty="0"/>
              <a:t> network science: Language, mind, and society. </a:t>
            </a:r>
            <a:r>
              <a:rPr lang="en-GB" i="1" dirty="0"/>
              <a:t>(No Title)</a:t>
            </a:r>
            <a:r>
              <a:rPr lang="en-GB" dirty="0"/>
              <a:t>.</a:t>
            </a:r>
          </a:p>
          <a:p>
            <a:r>
              <a:rPr lang="en-GB" u="none" strike="noStrike" dirty="0">
                <a:effectLst/>
                <a:latin typeface="Google Sans"/>
              </a:rPr>
              <a:t>Johnson, J. C., </a:t>
            </a:r>
            <a:r>
              <a:rPr lang="en-GB" u="none" strike="noStrike" dirty="0" err="1">
                <a:effectLst/>
                <a:latin typeface="Google Sans"/>
              </a:rPr>
              <a:t>Boster</a:t>
            </a:r>
            <a:r>
              <a:rPr lang="en-GB" u="none" strike="noStrike" dirty="0">
                <a:effectLst/>
                <a:latin typeface="Google Sans"/>
              </a:rPr>
              <a:t>, J. S., &amp; Palinkas, L. A. (2003). Social roles and the evolution of networks in extreme and isolated environments. </a:t>
            </a:r>
            <a:r>
              <a:rPr lang="en-GB" i="1" u="none" strike="noStrike" dirty="0">
                <a:effectLst/>
                <a:latin typeface="Google Sans"/>
              </a:rPr>
              <a:t>The Journal of Mathematical Sociology</a:t>
            </a:r>
            <a:r>
              <a:rPr lang="en-GB" dirty="0"/>
              <a:t>, 27(2-3), 89–121.</a:t>
            </a:r>
          </a:p>
          <a:p>
            <a:r>
              <a:rPr lang="en-GB" dirty="0"/>
              <a:t>Stella, M., Swanson, T. J., Li, Y., Hills, T. T., &amp; Teixeira, A. S. (2022). Cognitive networks detect structural patterns and emotional complexity in suicide notes. </a:t>
            </a:r>
            <a:r>
              <a:rPr lang="en-GB" i="1" dirty="0"/>
              <a:t>Frontiers in psychology</a:t>
            </a:r>
            <a:r>
              <a:rPr lang="en-GB" dirty="0"/>
              <a:t>, </a:t>
            </a:r>
            <a:r>
              <a:rPr lang="en-GB" i="1" dirty="0"/>
              <a:t>13</a:t>
            </a:r>
            <a:r>
              <a:rPr lang="en-GB" dirty="0"/>
              <a:t>, 917630.</a:t>
            </a:r>
          </a:p>
          <a:p>
            <a:r>
              <a:rPr lang="en-GB" dirty="0"/>
              <a:t>Siew, C. S., Wulff, D. U., </a:t>
            </a:r>
            <a:r>
              <a:rPr lang="en-GB" dirty="0" err="1"/>
              <a:t>Beckage</a:t>
            </a:r>
            <a:r>
              <a:rPr lang="en-GB" dirty="0"/>
              <a:t>, N. M., &amp; </a:t>
            </a:r>
            <a:r>
              <a:rPr lang="en-GB" dirty="0" err="1"/>
              <a:t>Kenett</a:t>
            </a:r>
            <a:r>
              <a:rPr lang="en-GB" dirty="0"/>
              <a:t>, Y. N. (2019). Cognitive network science: A review of research on cognition through the lens of network representations, processes, and dynamics. </a:t>
            </a:r>
            <a:r>
              <a:rPr lang="en-GB" i="1" dirty="0"/>
              <a:t>Complexity</a:t>
            </a:r>
            <a:r>
              <a:rPr lang="en-GB" dirty="0"/>
              <a:t>, </a:t>
            </a:r>
            <a:r>
              <a:rPr lang="en-GB" i="1" dirty="0"/>
              <a:t>2019</a:t>
            </a:r>
            <a:r>
              <a:rPr lang="en-GB" dirty="0"/>
              <a:t>(1), 2108423.</a:t>
            </a:r>
          </a:p>
          <a:p>
            <a:r>
              <a:rPr lang="en-GB" dirty="0"/>
              <a:t>Krebs, V. (2002). Uncloaking terrorist networks. </a:t>
            </a:r>
            <a:r>
              <a:rPr lang="en-GB" i="1" dirty="0"/>
              <a:t>First Monday</a:t>
            </a:r>
            <a:r>
              <a:rPr lang="en-GB" dirty="0"/>
              <a:t>.</a:t>
            </a:r>
          </a:p>
          <a:p>
            <a:r>
              <a:rPr lang="en-GB" dirty="0" err="1"/>
              <a:t>Kenett</a:t>
            </a:r>
            <a:r>
              <a:rPr lang="en-GB" dirty="0"/>
              <a:t>, Y. N., &amp; Faust, M. (2019). A semantic network cartography of the creative mind. </a:t>
            </a:r>
            <a:r>
              <a:rPr lang="en-GB" i="1" dirty="0"/>
              <a:t>Trends in cognitive sciences</a:t>
            </a:r>
            <a:r>
              <a:rPr lang="en-GB" dirty="0"/>
              <a:t>, </a:t>
            </a:r>
            <a:r>
              <a:rPr lang="en-GB" i="1" dirty="0"/>
              <a:t>23</a:t>
            </a:r>
            <a:r>
              <a:rPr lang="en-GB" dirty="0"/>
              <a:t>(4), 271-274.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620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2573</TotalTime>
  <Words>648</Words>
  <Application>Microsoft Macintosh PowerPoint</Application>
  <PresentationFormat>Widescreen</PresentationFormat>
  <Paragraphs>88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Google Sans</vt:lpstr>
      <vt:lpstr>Helvetica Neue</vt:lpstr>
      <vt:lpstr>office theme</vt:lpstr>
      <vt:lpstr>Transforming Text into Networks</vt:lpstr>
      <vt:lpstr>Why think in networks?</vt:lpstr>
      <vt:lpstr>Why text?</vt:lpstr>
      <vt:lpstr>Basic network ingredients</vt:lpstr>
      <vt:lpstr>Representing a network</vt:lpstr>
      <vt:lpstr>Weighted networks</vt:lpstr>
      <vt:lpstr>Two-mode networks</vt:lpstr>
      <vt:lpstr>One-mode networks</vt:lpstr>
      <vt:lpstr>Analyzing networks</vt:lpstr>
      <vt:lpstr>Density  = it is the proportion of possible edges that are actually present</vt:lpstr>
      <vt:lpstr>Terrorist cells are characterized by low density</vt:lpstr>
      <vt:lpstr>Average Shortest Path Length = average of shortest path between given node and any other node in the network</vt:lpstr>
      <vt:lpstr>Creative individuals have shorter average shortest path lengths</vt:lpstr>
      <vt:lpstr>Betweenness centrality = number of shortest paths between all other pairs of nodes that pass through a given node</vt:lpstr>
      <vt:lpstr>People important for keeping communities together have high betweenness centrality </vt:lpstr>
      <vt:lpstr>Todays worked example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Transforming Text into Networks</dc:title>
  <dc:creator/>
  <cp:lastModifiedBy>ANTKIEWICZ, JAN (PGR)</cp:lastModifiedBy>
  <cp:revision>7</cp:revision>
  <dcterms:created xsi:type="dcterms:W3CDTF">2026-07-05T11:53:57Z</dcterms:created>
  <dcterms:modified xsi:type="dcterms:W3CDTF">2026-07-15T14:26:06Z</dcterms:modified>
</cp:coreProperties>
</file>